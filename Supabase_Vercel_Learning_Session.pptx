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4255" y="8229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3ECF8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27487" y="82296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C2B4A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814255" y="153619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C2B4A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27487" y="153619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1C2B4A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28600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 + VERCEL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58368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stack — a walkthrough using Client Pulse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4069080"/>
            <a:ext cx="4114800" cy="502920"/>
          </a:xfrm>
          <a:prstGeom prst="roundRect">
            <a:avLst>
              <a:gd name="adj" fmla="val 18182"/>
            </a:avLst>
          </a:prstGeom>
          <a:solidFill>
            <a:srgbClr val="16213E"/>
          </a:solidFill>
          <a:ln w="12700">
            <a:solidFill>
              <a:srgbClr val="3ECF8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0690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LEARNING SESSION  ·  ~60–75 MIN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8368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AI Team  ·  Virtual Data Room Platform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Session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440180" y="2148840"/>
            <a:ext cx="9311335" cy="0"/>
          </a:xfrm>
          <a:prstGeom prst="line">
            <a:avLst/>
          </a:prstGeom>
          <a:noFill/>
          <a:ln w="25400">
            <a:solidFill>
              <a:srgbClr val="D7DD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12164" y="2020824"/>
            <a:ext cx="256032" cy="256032"/>
          </a:xfrm>
          <a:prstGeom prst="ellipse">
            <a:avLst/>
          </a:prstGeom>
          <a:solidFill>
            <a:srgbClr val="1621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423160"/>
            <a:ext cx="1600200" cy="2331720"/>
          </a:xfrm>
          <a:prstGeom prst="roundRect">
            <a:avLst>
              <a:gd name="adj" fmla="val 4571"/>
            </a:avLst>
          </a:prstGeom>
          <a:solidFill>
            <a:srgbClr val="EEF1F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5877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3232" y="3017520"/>
            <a:ext cx="1453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74431" y="2020824"/>
            <a:ext cx="256032" cy="256032"/>
          </a:xfrm>
          <a:prstGeom prst="ellipse">
            <a:avLst/>
          </a:prstGeom>
          <a:solidFill>
            <a:srgbClr val="5B7BA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02347" y="2423160"/>
            <a:ext cx="1600200" cy="2331720"/>
          </a:xfrm>
          <a:prstGeom prst="roundRect">
            <a:avLst>
              <a:gd name="adj" fmla="val 4571"/>
            </a:avLst>
          </a:prstGeom>
          <a:solidFill>
            <a:srgbClr val="EEF1F7"/>
          </a:solidFill>
          <a:ln/>
        </p:spPr>
      </p:sp>
      <p:sp>
        <p:nvSpPr>
          <p:cNvPr id="12" name="Text 10"/>
          <p:cNvSpPr/>
          <p:nvPr/>
        </p:nvSpPr>
        <p:spPr>
          <a:xfrm>
            <a:off x="2502347" y="25877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7B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575499" y="3017520"/>
            <a:ext cx="1453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02347" y="4297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36698" y="2020824"/>
            <a:ext cx="256032" cy="256032"/>
          </a:xfrm>
          <a:prstGeom prst="ellipse">
            <a:avLst/>
          </a:prstGeom>
          <a:solidFill>
            <a:srgbClr val="3ECF8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64614" y="2423160"/>
            <a:ext cx="1600200" cy="2331720"/>
          </a:xfrm>
          <a:prstGeom prst="roundRect">
            <a:avLst>
              <a:gd name="adj" fmla="val 4571"/>
            </a:avLst>
          </a:prstGeom>
          <a:solidFill>
            <a:srgbClr val="EEF1F7"/>
          </a:solidFill>
          <a:ln/>
        </p:spPr>
      </p:sp>
      <p:sp>
        <p:nvSpPr>
          <p:cNvPr id="17" name="Text 15"/>
          <p:cNvSpPr/>
          <p:nvPr/>
        </p:nvSpPr>
        <p:spPr>
          <a:xfrm>
            <a:off x="4364614" y="25877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37766" y="3017520"/>
            <a:ext cx="1453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64614" y="4297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98965" y="2020824"/>
            <a:ext cx="256032" cy="256032"/>
          </a:xfrm>
          <a:prstGeom prst="ellipse">
            <a:avLst/>
          </a:prstGeom>
          <a:solidFill>
            <a:srgbClr val="3ECF8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26881" y="2423160"/>
            <a:ext cx="1600200" cy="2331720"/>
          </a:xfrm>
          <a:prstGeom prst="roundRect">
            <a:avLst>
              <a:gd name="adj" fmla="val 4571"/>
            </a:avLst>
          </a:prstGeom>
          <a:solidFill>
            <a:srgbClr val="EEF1F7"/>
          </a:solidFill>
          <a:ln/>
        </p:spPr>
      </p:sp>
      <p:sp>
        <p:nvSpPr>
          <p:cNvPr id="22" name="Text 20"/>
          <p:cNvSpPr/>
          <p:nvPr/>
        </p:nvSpPr>
        <p:spPr>
          <a:xfrm>
            <a:off x="6226881" y="25877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CF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00033" y="3017520"/>
            <a:ext cx="1453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226881" y="4297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761232" y="2020824"/>
            <a:ext cx="256032" cy="256032"/>
          </a:xfrm>
          <a:prstGeom prst="ellipse">
            <a:avLst/>
          </a:prstGeom>
          <a:solidFill>
            <a:srgbClr val="16213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089148" y="2423160"/>
            <a:ext cx="1600200" cy="2331720"/>
          </a:xfrm>
          <a:prstGeom prst="roundRect">
            <a:avLst>
              <a:gd name="adj" fmla="val 4571"/>
            </a:avLst>
          </a:prstGeom>
          <a:solidFill>
            <a:srgbClr val="EEF1F7"/>
          </a:solidFill>
          <a:ln/>
        </p:spPr>
      </p:sp>
      <p:sp>
        <p:nvSpPr>
          <p:cNvPr id="27" name="Text 25"/>
          <p:cNvSpPr/>
          <p:nvPr/>
        </p:nvSpPr>
        <p:spPr>
          <a:xfrm>
            <a:off x="8089148" y="25877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62300" y="3017520"/>
            <a:ext cx="1453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&amp;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089148" y="4297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623499" y="2020824"/>
            <a:ext cx="256032" cy="256032"/>
          </a:xfrm>
          <a:prstGeom prst="ellipse">
            <a:avLst/>
          </a:prstGeom>
          <a:solidFill>
            <a:srgbClr val="0F7A4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951415" y="2423160"/>
            <a:ext cx="1600200" cy="2331720"/>
          </a:xfrm>
          <a:prstGeom prst="roundRect">
            <a:avLst>
              <a:gd name="adj" fmla="val 4571"/>
            </a:avLst>
          </a:prstGeom>
          <a:solidFill>
            <a:srgbClr val="EEF1F7"/>
          </a:solidFill>
          <a:ln/>
        </p:spPr>
      </p:sp>
      <p:sp>
        <p:nvSpPr>
          <p:cNvPr id="32" name="Text 30"/>
          <p:cNvSpPr/>
          <p:nvPr/>
        </p:nvSpPr>
        <p:spPr>
          <a:xfrm>
            <a:off x="9951415" y="2587752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024567" y="3017520"/>
            <a:ext cx="1453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951415" y="42976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min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60350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run time: ~60 minutes (push hands-on to a follow-up if discussion runs long)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Building — and the Question We're Answering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EEF1F7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920240"/>
            <a:ext cx="548640" cy="54864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91640" y="1920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Pulse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269748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per-client AI reporting platform for Sales &amp; Customer Success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Scheduled, per-account health reports — not a generic monthly digest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together calls, tickets, NPS, revenue &amp; expansion signal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Touches nearly every Supabase + Vercel primitive: DB, auth, storage, scheduled jobs, AI calls, deploys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1600200"/>
            <a:ext cx="5148072" cy="4572000"/>
          </a:xfrm>
          <a:prstGeom prst="roundRect">
            <a:avLst>
              <a:gd name="adj" fmla="val 2000"/>
            </a:avLst>
          </a:prstGeom>
          <a:solidFill>
            <a:srgbClr val="0B1120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0" y="1965960"/>
            <a:ext cx="4416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QUESTION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766560" y="2468880"/>
            <a:ext cx="441655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“Why is Supabase + Vercel a legitimate choice here — versus the GCP-style stack we're used to?”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766560" y="4983480"/>
            <a:ext cx="4416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in this session is in service of answering that — concretely, using this project as the example.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BASELINE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GCP-Style Architecture for This App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0911535" cy="548640"/>
          </a:xfrm>
          <a:prstGeom prst="roundRect">
            <a:avLst>
              <a:gd name="adj" fmla="val 13333"/>
            </a:avLst>
          </a:prstGeom>
          <a:solidFill>
            <a:srgbClr val="0B112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APPLICATION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04872" y="1783080"/>
            <a:ext cx="0" cy="365760"/>
          </a:xfrm>
          <a:prstGeom prst="line">
            <a:avLst/>
          </a:prstGeom>
          <a:noFill/>
          <a:ln w="25400">
            <a:solidFill>
              <a:srgbClr val="5B7BA6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404872" y="3566160"/>
            <a:ext cx="0" cy="411480"/>
          </a:xfrm>
          <a:prstGeom prst="line">
            <a:avLst/>
          </a:prstGeom>
          <a:noFill/>
          <a:ln w="25400">
            <a:solidFill>
              <a:srgbClr val="5B7BA6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640080" y="2148840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E7ECF5"/>
          </a:solidFill>
          <a:ln w="15875">
            <a:solidFill>
              <a:srgbClr val="5B7B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rgbClr val="5B7BA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233172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22960" y="2770632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E7ECF5"/>
          </a:solidFill>
          <a:ln w="15875">
            <a:solidFill>
              <a:srgbClr val="5B7BA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4160520"/>
            <a:ext cx="457200" cy="457200"/>
          </a:xfrm>
          <a:prstGeom prst="ellipse">
            <a:avLst/>
          </a:prstGeom>
          <a:solidFill>
            <a:srgbClr val="5B7BA6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160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17320" y="416052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2960" y="4599432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Build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094476" y="1783080"/>
            <a:ext cx="0" cy="365760"/>
          </a:xfrm>
          <a:prstGeom prst="line">
            <a:avLst/>
          </a:prstGeom>
          <a:noFill/>
          <a:ln w="25400">
            <a:solidFill>
              <a:srgbClr val="5B7BA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094476" y="3566160"/>
            <a:ext cx="0" cy="411480"/>
          </a:xfrm>
          <a:prstGeom prst="line">
            <a:avLst/>
          </a:prstGeom>
          <a:noFill/>
          <a:ln w="25400">
            <a:solidFill>
              <a:srgbClr val="5B7BA6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329684" y="2148840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E7ECF5"/>
          </a:solidFill>
          <a:ln w="15875">
            <a:solidFill>
              <a:srgbClr val="5B7BA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12564" y="2331720"/>
            <a:ext cx="457200" cy="457200"/>
          </a:xfrm>
          <a:prstGeom prst="ellipse">
            <a:avLst/>
          </a:prstGeom>
          <a:solidFill>
            <a:srgbClr val="5B7BA6"/>
          </a:solidFill>
          <a:ln/>
        </p:spPr>
      </p:sp>
      <p:sp>
        <p:nvSpPr>
          <p:cNvPr id="22" name="Text 20"/>
          <p:cNvSpPr/>
          <p:nvPr/>
        </p:nvSpPr>
        <p:spPr>
          <a:xfrm>
            <a:off x="4421124" y="2331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06924" y="233172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12564" y="2770632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SQL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329684" y="3977640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E7ECF5"/>
          </a:solidFill>
          <a:ln w="15875">
            <a:solidFill>
              <a:srgbClr val="5B7B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12564" y="4160520"/>
            <a:ext cx="457200" cy="457200"/>
          </a:xfrm>
          <a:prstGeom prst="ellipse">
            <a:avLst/>
          </a:prstGeom>
          <a:solidFill>
            <a:srgbClr val="5B7BA6"/>
          </a:solidFill>
          <a:ln/>
        </p:spPr>
      </p:sp>
      <p:sp>
        <p:nvSpPr>
          <p:cNvPr id="27" name="Text 25"/>
          <p:cNvSpPr/>
          <p:nvPr/>
        </p:nvSpPr>
        <p:spPr>
          <a:xfrm>
            <a:off x="4421124" y="4160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06924" y="416052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12564" y="4599432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Manager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9784080" y="1783080"/>
            <a:ext cx="0" cy="365760"/>
          </a:xfrm>
          <a:prstGeom prst="line">
            <a:avLst/>
          </a:prstGeom>
          <a:noFill/>
          <a:ln w="25400">
            <a:solidFill>
              <a:srgbClr val="5B7BA6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9784080" y="3566160"/>
            <a:ext cx="0" cy="411480"/>
          </a:xfrm>
          <a:prstGeom prst="line">
            <a:avLst/>
          </a:prstGeom>
          <a:noFill/>
          <a:ln w="25400">
            <a:solidFill>
              <a:srgbClr val="5B7BA6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8019288" y="2148840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E7ECF5"/>
          </a:solidFill>
          <a:ln w="15875">
            <a:solidFill>
              <a:srgbClr val="5B7BA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02168" y="2331720"/>
            <a:ext cx="457200" cy="457200"/>
          </a:xfrm>
          <a:prstGeom prst="ellipse">
            <a:avLst/>
          </a:prstGeom>
          <a:solidFill>
            <a:srgbClr val="5B7BA6"/>
          </a:solidFill>
          <a:ln/>
        </p:spPr>
      </p:sp>
      <p:sp>
        <p:nvSpPr>
          <p:cNvPr id="34" name="Text 32"/>
          <p:cNvSpPr/>
          <p:nvPr/>
        </p:nvSpPr>
        <p:spPr>
          <a:xfrm>
            <a:off x="8110728" y="2331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796528" y="233172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202168" y="2770632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Platform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8019288" y="3977640"/>
            <a:ext cx="3529584" cy="1417320"/>
          </a:xfrm>
          <a:prstGeom prst="roundRect">
            <a:avLst>
              <a:gd name="adj" fmla="val 5161"/>
            </a:avLst>
          </a:prstGeom>
          <a:solidFill>
            <a:srgbClr val="E7ECF5"/>
          </a:solidFill>
          <a:ln w="15875">
            <a:solidFill>
              <a:srgbClr val="5B7B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02168" y="4160520"/>
            <a:ext cx="457200" cy="457200"/>
          </a:xfrm>
          <a:prstGeom prst="ellipse">
            <a:avLst/>
          </a:prstGeom>
          <a:solidFill>
            <a:srgbClr val="5B7BA6"/>
          </a:solidFill>
          <a:ln/>
        </p:spPr>
      </p:sp>
      <p:sp>
        <p:nvSpPr>
          <p:cNvPr id="39" name="Text 37"/>
          <p:cNvSpPr/>
          <p:nvPr/>
        </p:nvSpPr>
        <p:spPr>
          <a:xfrm>
            <a:off x="8110728" y="4160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796528" y="4160520"/>
            <a:ext cx="2615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JOBS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202168" y="4599432"/>
            <a:ext cx="31638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→ Pub/Sub → Functions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640080" y="6172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55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separate products, each with its own IAM surface — wired together by you.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DEEP-DIVE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Project, One Postgres Database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0911535" cy="4892040"/>
          </a:xfrm>
          <a:prstGeom prst="roundRect">
            <a:avLst>
              <a:gd name="adj" fmla="val 2243"/>
            </a:avLst>
          </a:prstGeom>
          <a:solidFill>
            <a:srgbClr val="0B1120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508760"/>
            <a:ext cx="102714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PROJECT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960120" y="1965960"/>
            <a:ext cx="10271455" cy="914400"/>
          </a:xfrm>
          <a:prstGeom prst="roundRect">
            <a:avLst>
              <a:gd name="adj" fmla="val 8000"/>
            </a:avLst>
          </a:prstGeom>
          <a:solidFill>
            <a:srgbClr val="3ECF8E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1965960"/>
            <a:ext cx="97228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PostgreSQL Database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126480" y="1508760"/>
            <a:ext cx="5105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below is layered on top of 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3154680"/>
            <a:ext cx="1922617" cy="2743200"/>
          </a:xfrm>
          <a:prstGeom prst="roundRect">
            <a:avLst>
              <a:gd name="adj" fmla="val 3805"/>
            </a:avLst>
          </a:prstGeom>
          <a:solidFill>
            <a:srgbClr val="1C2B4A"/>
          </a:solidFill>
          <a:ln w="9525">
            <a:solidFill>
              <a:srgbClr val="3ECF8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74541" y="3355848"/>
            <a:ext cx="493776" cy="493776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1" name="Text 9"/>
          <p:cNvSpPr/>
          <p:nvPr/>
        </p:nvSpPr>
        <p:spPr>
          <a:xfrm>
            <a:off x="1583101" y="3355848"/>
            <a:ext cx="676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69848" y="3977640"/>
            <a:ext cx="170316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06424" y="4343400"/>
            <a:ext cx="163000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auth.users sits in the same DB — auth.uid() is usable directly inside policies.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47329" y="3154680"/>
            <a:ext cx="1922617" cy="2743200"/>
          </a:xfrm>
          <a:prstGeom prst="roundRect">
            <a:avLst>
              <a:gd name="adj" fmla="val 3805"/>
            </a:avLst>
          </a:prstGeom>
          <a:solidFill>
            <a:srgbClr val="1C2B4A"/>
          </a:solidFill>
          <a:ln w="9525">
            <a:solidFill>
              <a:srgbClr val="3ECF8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61750" y="3355848"/>
            <a:ext cx="493776" cy="493776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6" name="Text 14"/>
          <p:cNvSpPr/>
          <p:nvPr/>
        </p:nvSpPr>
        <p:spPr>
          <a:xfrm>
            <a:off x="3670310" y="3355848"/>
            <a:ext cx="676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57057" y="3977640"/>
            <a:ext cx="170316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193633" y="4343400"/>
            <a:ext cx="163000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&amp; generated reports — the same RLS model applies to buckets.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34539" y="3154680"/>
            <a:ext cx="1922617" cy="2743200"/>
          </a:xfrm>
          <a:prstGeom prst="roundRect">
            <a:avLst>
              <a:gd name="adj" fmla="val 3805"/>
            </a:avLst>
          </a:prstGeom>
          <a:solidFill>
            <a:srgbClr val="1C2B4A"/>
          </a:solidFill>
          <a:ln w="9525">
            <a:solidFill>
              <a:srgbClr val="3ECF8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48960" y="3355848"/>
            <a:ext cx="493776" cy="493776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21" name="Text 19"/>
          <p:cNvSpPr/>
          <p:nvPr/>
        </p:nvSpPr>
        <p:spPr>
          <a:xfrm>
            <a:off x="5757520" y="3355848"/>
            <a:ext cx="676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44267" y="3977640"/>
            <a:ext cx="170316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Functions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80843" y="4343400"/>
            <a:ext cx="163000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 serverless functions colocated with your data, no separate compute product.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21748" y="3154680"/>
            <a:ext cx="1922617" cy="2743200"/>
          </a:xfrm>
          <a:prstGeom prst="roundRect">
            <a:avLst>
              <a:gd name="adj" fmla="val 3805"/>
            </a:avLst>
          </a:prstGeom>
          <a:solidFill>
            <a:srgbClr val="1C2B4A"/>
          </a:solidFill>
          <a:ln w="9525">
            <a:solidFill>
              <a:srgbClr val="3ECF8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36169" y="3355848"/>
            <a:ext cx="493776" cy="493776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26" name="Text 24"/>
          <p:cNvSpPr/>
          <p:nvPr/>
        </p:nvSpPr>
        <p:spPr>
          <a:xfrm>
            <a:off x="7844729" y="3355848"/>
            <a:ext cx="676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31476" y="3977640"/>
            <a:ext cx="170316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pg_cron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368052" y="4343400"/>
            <a:ext cx="163000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jobs run inside Postgres — one SQL statement, not three products.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308958" y="3154680"/>
            <a:ext cx="1922617" cy="2743200"/>
          </a:xfrm>
          <a:prstGeom prst="roundRect">
            <a:avLst>
              <a:gd name="adj" fmla="val 3805"/>
            </a:avLst>
          </a:prstGeom>
          <a:solidFill>
            <a:srgbClr val="1C2B4A"/>
          </a:solidFill>
          <a:ln w="9525">
            <a:solidFill>
              <a:srgbClr val="3ECF8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023378" y="3355848"/>
            <a:ext cx="493776" cy="493776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31" name="Text 29"/>
          <p:cNvSpPr/>
          <p:nvPr/>
        </p:nvSpPr>
        <p:spPr>
          <a:xfrm>
            <a:off x="9931938" y="3355848"/>
            <a:ext cx="6766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686" y="3977640"/>
            <a:ext cx="170316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455262" y="4343400"/>
            <a:ext cx="163000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to table changes live, e.g. report-generation status.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" y="6263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F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product. Same policies. One IAM surface.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DEEP-DIVE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Control Lives in the Database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E7ECF5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828800"/>
            <a:ext cx="502920" cy="502920"/>
          </a:xfrm>
          <a:prstGeom prst="ellipse">
            <a:avLst/>
          </a:prstGeom>
          <a:solidFill>
            <a:srgbClr val="5B7B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45920" y="180136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55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App-Layer Checks (GCP-style)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5840" y="2560320"/>
            <a:ext cx="46177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endpoint must remember to filter by user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forget on a new route or background job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 lives in application code, not the data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missed check anywhere = a data leak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199632" y="150876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E4F9EF"/>
          </a:solidFill>
          <a:ln/>
        </p:spPr>
      </p:sp>
      <p:sp>
        <p:nvSpPr>
          <p:cNvPr id="10" name="Shape 8"/>
          <p:cNvSpPr/>
          <p:nvPr/>
        </p:nvSpPr>
        <p:spPr>
          <a:xfrm>
            <a:off x="6473952" y="1828800"/>
            <a:ext cx="502920" cy="50292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8288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205472" y="180136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RLS Policy (Postgres)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65392" y="2560320"/>
            <a:ext cx="4617720" cy="1691640"/>
          </a:xfrm>
          <a:prstGeom prst="roundRect">
            <a:avLst>
              <a:gd name="adj" fmla="val 3243"/>
            </a:avLst>
          </a:prstGeom>
          <a:solidFill>
            <a:srgbClr val="0B1120"/>
          </a:solidFill>
          <a:ln/>
        </p:spPr>
      </p:sp>
      <p:sp>
        <p:nvSpPr>
          <p:cNvPr id="14" name="Text 12"/>
          <p:cNvSpPr/>
          <p:nvPr/>
        </p:nvSpPr>
        <p:spPr>
          <a:xfrm>
            <a:off x="6793992" y="2724912"/>
            <a:ext cx="416052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policy "reps see own clients"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on reports for select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ECF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using (rep_id = auth.uid());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65392" y="4480560"/>
            <a:ext cx="4617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once. Enforced by Postgres itself — no matter which endpoint, script, or tool runs the query.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DEEP-DIVE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Git Push to Live URL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push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108960" y="2212848"/>
            <a:ext cx="467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576218" y="16916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/>
        </p:spPr>
      </p:sp>
      <p:sp>
        <p:nvSpPr>
          <p:cNvPr id="8" name="Text 6"/>
          <p:cNvSpPr/>
          <p:nvPr/>
        </p:nvSpPr>
        <p:spPr>
          <a:xfrm>
            <a:off x="3576218" y="16916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62218" y="2212848"/>
            <a:ext cx="467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329477" y="16916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6329477" y="16916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Preview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15477" y="2212848"/>
            <a:ext cx="4672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082735" y="169164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3ECF8E"/>
          </a:solidFill>
          <a:ln/>
        </p:spPr>
      </p:sp>
      <p:sp>
        <p:nvSpPr>
          <p:cNvPr id="14" name="Text 12"/>
          <p:cNvSpPr/>
          <p:nvPr/>
        </p:nvSpPr>
        <p:spPr>
          <a:xfrm>
            <a:off x="9082735" y="169164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Promote to</a:t>
            </a:r>
            <a:endParaRPr lang="en-US" sz="15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B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520440"/>
            <a:ext cx="3454298" cy="2286000"/>
          </a:xfrm>
          <a:prstGeom prst="roundRect">
            <a:avLst>
              <a:gd name="adj" fmla="val 3200"/>
            </a:avLst>
          </a:prstGeom>
          <a:solidFill>
            <a:srgbClr val="EEF1F7"/>
          </a:solidFill>
          <a:ln/>
        </p:spPr>
      </p:sp>
      <p:sp>
        <p:nvSpPr>
          <p:cNvPr id="16" name="Shape 14"/>
          <p:cNvSpPr/>
          <p:nvPr/>
        </p:nvSpPr>
        <p:spPr>
          <a:xfrm>
            <a:off x="896112" y="3776472"/>
            <a:ext cx="502920" cy="50292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7" name="Text 15"/>
          <p:cNvSpPr/>
          <p:nvPr/>
        </p:nvSpPr>
        <p:spPr>
          <a:xfrm>
            <a:off x="804672" y="377647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96112" y="4434840"/>
            <a:ext cx="29422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Deployments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96112" y="4892040"/>
            <a:ext cx="29422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branch / PR gets its own URL automatically — no manual traffic config.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68698" y="3520440"/>
            <a:ext cx="3454298" cy="2286000"/>
          </a:xfrm>
          <a:prstGeom prst="roundRect">
            <a:avLst>
              <a:gd name="adj" fmla="val 3200"/>
            </a:avLst>
          </a:prstGeom>
          <a:solidFill>
            <a:srgbClr val="EEF1F7"/>
          </a:solidFill>
          <a:ln/>
        </p:spPr>
      </p:sp>
      <p:sp>
        <p:nvSpPr>
          <p:cNvPr id="21" name="Shape 19"/>
          <p:cNvSpPr/>
          <p:nvPr/>
        </p:nvSpPr>
        <p:spPr>
          <a:xfrm>
            <a:off x="4624730" y="3776472"/>
            <a:ext cx="502920" cy="50292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22" name="Text 20"/>
          <p:cNvSpPr/>
          <p:nvPr/>
        </p:nvSpPr>
        <p:spPr>
          <a:xfrm>
            <a:off x="4533290" y="377647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24730" y="4434840"/>
            <a:ext cx="29422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Vars per Environment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24730" y="4892040"/>
            <a:ext cx="29422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/ Preview / Development scoped variables, set once in the dashboard.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97317" y="3520440"/>
            <a:ext cx="3454298" cy="2286000"/>
          </a:xfrm>
          <a:prstGeom prst="roundRect">
            <a:avLst>
              <a:gd name="adj" fmla="val 3200"/>
            </a:avLst>
          </a:prstGeom>
          <a:solidFill>
            <a:srgbClr val="EEF1F7"/>
          </a:solidFill>
          <a:ln/>
        </p:spPr>
      </p:sp>
      <p:sp>
        <p:nvSpPr>
          <p:cNvPr id="26" name="Shape 24"/>
          <p:cNvSpPr/>
          <p:nvPr/>
        </p:nvSpPr>
        <p:spPr>
          <a:xfrm>
            <a:off x="8353349" y="3776472"/>
            <a:ext cx="502920" cy="50292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27" name="Text 25"/>
          <p:cNvSpPr/>
          <p:nvPr/>
        </p:nvSpPr>
        <p:spPr>
          <a:xfrm>
            <a:off x="8261909" y="3776472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CJ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353349" y="4434840"/>
            <a:ext cx="29422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353349" y="4892040"/>
            <a:ext cx="294223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scheduled triggers — for our monthly / quarterly report generation.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Head to Head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11535" cy="4892040"/>
        </p:xfrm>
        <a:graphic>
          <a:graphicData uri="http://schemas.openxmlformats.org/drawingml/2006/table">
            <a:tbl>
              <a:tblPr/>
              <a:tblGrid>
                <a:gridCol w="2651760"/>
                <a:gridCol w="4480560"/>
                <a:gridCol w="4206240"/>
              </a:tblGrid>
              <a:tr h="61150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GCP-Style Stack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+ Vercel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120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+ Auth +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separate products, reconciled in app 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Postgres project — RLS is the shared enforcement 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control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App-layer checks, easy to bypass via a forgotten endpoint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RLS policy, enforced at the DB no matter the entry point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 job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Scheduler + Pub/Sub + Function (3 IAM bindings)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SQL cron.schedule(...), or 1 Vercel cron config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pipeline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Dockerfile, Cloud Build, Artifact Registry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push — done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Preview environments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traffic configuration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Automatic, per branch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Ops burden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You: patching, connection pooling, backups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A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B11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it stops making sense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3550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F7A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Extreme scale, deep GCP-ecosystem lock-in (BigQuery, Dataflow)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D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Trade-off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E7ECF5"/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1847088"/>
            <a:ext cx="502920" cy="502920"/>
          </a:xfrm>
          <a:prstGeom prst="ellipse">
            <a:avLst/>
          </a:prstGeom>
          <a:solidFill>
            <a:srgbClr val="5B7B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4708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645920" y="182880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550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Give Up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606040"/>
            <a:ext cx="4617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infrastructure control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integration with an existing GCP ecosystem (BigQuery, Dataflow)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customization for multi-region, write-heavy workloads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199632" y="155448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E4F9EF"/>
          </a:solidFill>
          <a:ln/>
        </p:spPr>
      </p:sp>
      <p:sp>
        <p:nvSpPr>
          <p:cNvPr id="10" name="Shape 8"/>
          <p:cNvSpPr/>
          <p:nvPr/>
        </p:nvSpPr>
        <p:spPr>
          <a:xfrm>
            <a:off x="6519672" y="1847088"/>
            <a:ext cx="502920" cy="50292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847088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205472" y="1828800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A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Gain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65392" y="2606040"/>
            <a:ext cx="4617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to first deploy, not days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IAM surface instead of five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ops burden for DB patching, pooling, or backups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environments for free, on every branch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57150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trade for an internal reporting tool with a defined set of users. A different conversation at extreme scale.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16459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B11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Stand Up the Skeleton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30452" y="1600200"/>
            <a:ext cx="493776" cy="493776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5" name="Text 3"/>
          <p:cNvSpPr/>
          <p:nvPr/>
        </p:nvSpPr>
        <p:spPr>
          <a:xfrm>
            <a:off x="1330452" y="16002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1874520" cy="1828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0312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project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2852928"/>
            <a:ext cx="3847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589706" y="1600200"/>
            <a:ext cx="493776" cy="493776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0" name="Text 8"/>
          <p:cNvSpPr/>
          <p:nvPr/>
        </p:nvSpPr>
        <p:spPr>
          <a:xfrm>
            <a:off x="3589706" y="16002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899334" y="2103120"/>
            <a:ext cx="1874520" cy="1828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/>
        </p:spPr>
      </p:sp>
      <p:sp>
        <p:nvSpPr>
          <p:cNvPr id="12" name="Text 10"/>
          <p:cNvSpPr/>
          <p:nvPr/>
        </p:nvSpPr>
        <p:spPr>
          <a:xfrm>
            <a:off x="2990774" y="210312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table +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RLS policy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73854" y="2852928"/>
            <a:ext cx="3847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5848960" y="1600200"/>
            <a:ext cx="493776" cy="493776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5" name="Text 13"/>
          <p:cNvSpPr/>
          <p:nvPr/>
        </p:nvSpPr>
        <p:spPr>
          <a:xfrm>
            <a:off x="5848960" y="16002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158588" y="2103120"/>
            <a:ext cx="1874520" cy="1828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5250028" y="210312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it from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033108" y="2852928"/>
            <a:ext cx="3847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108213" y="1600200"/>
            <a:ext cx="493776" cy="493776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20" name="Text 18"/>
          <p:cNvSpPr/>
          <p:nvPr/>
        </p:nvSpPr>
        <p:spPr>
          <a:xfrm>
            <a:off x="8108213" y="16002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417841" y="2103120"/>
            <a:ext cx="1874520" cy="1828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/>
        </p:spPr>
      </p:sp>
      <p:sp>
        <p:nvSpPr>
          <p:cNvPr id="22" name="Text 20"/>
          <p:cNvSpPr/>
          <p:nvPr/>
        </p:nvSpPr>
        <p:spPr>
          <a:xfrm>
            <a:off x="7509281" y="210312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292361" y="2852928"/>
            <a:ext cx="38473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7B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10367467" y="1600200"/>
            <a:ext cx="493776" cy="493776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25" name="Text 23"/>
          <p:cNvSpPr/>
          <p:nvPr/>
        </p:nvSpPr>
        <p:spPr>
          <a:xfrm>
            <a:off x="10367467" y="160020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677095" y="2103120"/>
            <a:ext cx="1874520" cy="18288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/>
        </p:spPr>
      </p:sp>
      <p:sp>
        <p:nvSpPr>
          <p:cNvPr id="27" name="Text 25"/>
          <p:cNvSpPr/>
          <p:nvPr/>
        </p:nvSpPr>
        <p:spPr>
          <a:xfrm>
            <a:off x="9768535" y="2103120"/>
            <a:ext cx="1691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one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var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443484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possible slice — just enough to touch every layer once before we build the full Client Pulse platform.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C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21792" y="11430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Client Pulse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per-account reporting platform, using everything from today.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3454298" cy="3108960"/>
          </a:xfrm>
          <a:prstGeom prst="roundRect">
            <a:avLst>
              <a:gd name="adj" fmla="val 2941"/>
            </a:avLst>
          </a:prstGeom>
          <a:solidFill>
            <a:srgbClr val="16213E"/>
          </a:solidFill>
          <a:ln w="9525">
            <a:solidFill>
              <a:srgbClr val="3ECF8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154680"/>
            <a:ext cx="502920" cy="50292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1546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840480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reference screenshot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14400" y="4480560"/>
            <a:ext cx="29056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generated reports match our existing visual style.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8698" y="2880360"/>
            <a:ext cx="3454298" cy="3108960"/>
          </a:xfrm>
          <a:prstGeom prst="roundRect">
            <a:avLst>
              <a:gd name="adj" fmla="val 2941"/>
            </a:avLst>
          </a:prstGeom>
          <a:solidFill>
            <a:srgbClr val="16213E"/>
          </a:solidFill>
          <a:ln w="9525">
            <a:solidFill>
              <a:srgbClr val="3ECF8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43018" y="3154680"/>
            <a:ext cx="502920" cy="50292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2" name="Text 10"/>
          <p:cNvSpPr/>
          <p:nvPr/>
        </p:nvSpPr>
        <p:spPr>
          <a:xfrm>
            <a:off x="4551578" y="31546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43018" y="3840480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mock data first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43018" y="4480560"/>
            <a:ext cx="29056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clients, calls, tickets &amp; NPS — no real customer data touched.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97317" y="2880360"/>
            <a:ext cx="3454298" cy="3108960"/>
          </a:xfrm>
          <a:prstGeom prst="roundRect">
            <a:avLst>
              <a:gd name="adj" fmla="val 2941"/>
            </a:avLst>
          </a:prstGeom>
          <a:solidFill>
            <a:srgbClr val="16213E"/>
          </a:solidFill>
          <a:ln w="9525">
            <a:solidFill>
              <a:srgbClr val="3ECF8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71637" y="3154680"/>
            <a:ext cx="502920" cy="502920"/>
          </a:xfrm>
          <a:prstGeom prst="ellipse">
            <a:avLst/>
          </a:prstGeom>
          <a:solidFill>
            <a:srgbClr val="3ECF8E"/>
          </a:solidFill>
          <a:ln/>
        </p:spPr>
      </p:sp>
      <p:sp>
        <p:nvSpPr>
          <p:cNvPr id="17" name="Text 15"/>
          <p:cNvSpPr/>
          <p:nvPr/>
        </p:nvSpPr>
        <p:spPr>
          <a:xfrm>
            <a:off x="8280197" y="315468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71637" y="3840480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 the smallest slice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71637" y="4480560"/>
            <a:ext cx="29056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B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client, one manually-triggered report, before adding scheduling.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2026-08-18T15:49:42Z</dcterms:created>
  <dcterms:modified xsi:type="dcterms:W3CDTF">2026-08-18T15:49:42Z</dcterms:modified>
</cp:coreProperties>
</file>